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70" r:id="rId3"/>
    <p:sldId id="257" r:id="rId4"/>
    <p:sldId id="258" r:id="rId5"/>
    <p:sldId id="266" r:id="rId6"/>
    <p:sldId id="259" r:id="rId7"/>
    <p:sldId id="260" r:id="rId8"/>
    <p:sldId id="261" r:id="rId9"/>
    <p:sldId id="262" r:id="rId10"/>
    <p:sldId id="263" r:id="rId11"/>
    <p:sldId id="267" r:id="rId12"/>
    <p:sldId id="268" r:id="rId13"/>
  </p:sldIdLst>
  <p:sldSz cx="9144000" cy="5143500" type="screen16x9"/>
  <p:notesSz cx="5143500" cy="9144000"/>
  <p:embeddedFontLst>
    <p:embeddedFont>
      <p:font typeface="Lora" panose="020B0604020202020204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Source Sans 3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5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3148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3274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-6-8.svg"/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-6-6.svg"/><Relationship Id="rId5" Type="http://schemas.openxmlformats.org/officeDocument/2006/relationships/image" Target="../media/image-6-4.svg"/><Relationship Id="rId4" Type="http://schemas.openxmlformats.org/officeDocument/2006/relationships/image" Target="../media/image-6-2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01026" y="1528653"/>
            <a:ext cx="536773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dirty="0" smtClean="0">
                <a:solidFill>
                  <a:srgbClr val="FF3399"/>
                </a:solidFill>
              </a:rPr>
              <a:t>WELCOME</a:t>
            </a:r>
            <a:endParaRPr lang="en-IN" sz="6600" dirty="0">
              <a:solidFill>
                <a:srgbClr val="FF33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02905" y="424292"/>
            <a:ext cx="5374717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HANDWRITTEN DIGIT RECOGNITION SYSTEM USING CNN AND  STREAMLIT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4181111" y="1304314"/>
            <a:ext cx="4446358" cy="37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00" dirty="0">
                <a:solidFill>
                  <a:schemeClr val="accent4">
                    <a:lumMod val="75000"/>
                  </a:scheme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TRAINING PROGRAM · NSTI SRINAGAR · 2025–2026</a:t>
            </a:r>
            <a:endParaRPr lang="en-US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07193" y="1722185"/>
            <a:ext cx="3085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Theme: Sustainability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4257894" y="3245771"/>
            <a:ext cx="44393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accent5"/>
                </a:solidFill>
              </a:rPr>
              <a:t>Department of Artificial </a:t>
            </a:r>
            <a:r>
              <a:rPr lang="en-IN" b="1" dirty="0" smtClean="0">
                <a:solidFill>
                  <a:schemeClr val="accent5"/>
                </a:solidFill>
              </a:rPr>
              <a:t>Intelligence</a:t>
            </a:r>
          </a:p>
          <a:p>
            <a:endParaRPr lang="en-IN" dirty="0"/>
          </a:p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NATIONAL SKILL TRAINING INSTITUTE (NSTI)</a:t>
            </a:r>
          </a:p>
          <a:p>
            <a:pPr algn="ctr"/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SRINAGAR, JAMMU &amp; KASHMIR</a:t>
            </a:r>
          </a:p>
          <a:p>
            <a:pPr algn="ctr"/>
            <a:r>
              <a:rPr lang="en-IN" dirty="0"/>
              <a:t> </a:t>
            </a:r>
            <a:r>
              <a:rPr lang="en-IN" b="1" dirty="0" smtClean="0">
                <a:solidFill>
                  <a:schemeClr val="bg1"/>
                </a:solidFill>
              </a:rPr>
              <a:t>Academic </a:t>
            </a:r>
            <a:r>
              <a:rPr lang="en-IN" b="1" dirty="0">
                <a:solidFill>
                  <a:schemeClr val="bg1"/>
                </a:solidFill>
              </a:rPr>
              <a:t>Session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2025 – 2026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5510765" y="2173854"/>
            <a:ext cx="17589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Submitted </a:t>
            </a:r>
            <a:r>
              <a:rPr lang="en-IN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By</a:t>
            </a:r>
          </a:p>
          <a:p>
            <a:pPr algn="ctr"/>
            <a:r>
              <a:rPr lang="en-IN" sz="1400" b="1" dirty="0">
                <a:solidFill>
                  <a:schemeClr val="bg1"/>
                </a:solidFill>
              </a:rPr>
              <a:t>HUZAIFA NAZIR</a:t>
            </a:r>
          </a:p>
          <a:p>
            <a:pPr algn="ctr"/>
            <a:r>
              <a:rPr lang="en-IN" sz="1600" dirty="0" smtClean="0">
                <a:solidFill>
                  <a:schemeClr val="bg1"/>
                </a:solidFill>
              </a:rPr>
              <a:t>Furkan</a:t>
            </a:r>
            <a:endParaRPr lang="en-IN" sz="1600" dirty="0">
              <a:solidFill>
                <a:schemeClr val="bg1"/>
              </a:solidFill>
            </a:endParaRPr>
          </a:p>
          <a:p>
            <a:pPr algn="ctr"/>
            <a:r>
              <a:rPr lang="en-IN" sz="1600" dirty="0">
                <a:solidFill>
                  <a:schemeClr val="bg1"/>
                </a:solidFill>
              </a:rPr>
              <a:t>Sheeba</a:t>
            </a:r>
          </a:p>
          <a:p>
            <a:pPr algn="ctr"/>
            <a:endParaRPr lang="en-IN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9902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7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3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3538" y="464344"/>
            <a:ext cx="5024077" cy="847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algn="ctr"/>
            <a:r>
              <a:rPr lang="en-IN" sz="12800" dirty="0" smtClean="0">
                <a:solidFill>
                  <a:srgbClr val="FF3399"/>
                </a:solidFill>
              </a:rPr>
              <a:t>Abstract</a:t>
            </a:r>
          </a:p>
          <a:p>
            <a:pPr algn="ctr"/>
            <a:endParaRPr lang="en-IN" sz="9800" dirty="0">
              <a:solidFill>
                <a:srgbClr val="FF3399"/>
              </a:solidFill>
            </a:endParaRPr>
          </a:p>
          <a:p>
            <a:r>
              <a:rPr lang="en-IN" sz="9600" dirty="0">
                <a:solidFill>
                  <a:schemeClr val="bg1"/>
                </a:solidFill>
              </a:rPr>
              <a:t>The Handwritten Digit Recognition System is a machine learning project that identifies handwritten digits from 0 to 9. The system uses a Convolutional Neural Network (CNN) model trained on the MNIST dataset. Users can upload an image of a handwritten digit through a Streamlit web application, and the system predicts the digit automatically. This project demonstrates the practical use of Artificial Intelligence and Deep Learning in image recognition.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2500" dirty="0"/>
          </a:p>
        </p:txBody>
      </p:sp>
      <p:sp>
        <p:nvSpPr>
          <p:cNvPr id="11" name="Text 5"/>
          <p:cNvSpPr/>
          <p:nvPr/>
        </p:nvSpPr>
        <p:spPr>
          <a:xfrm>
            <a:off x="4115321" y="3837980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4115321" y="4111079"/>
            <a:ext cx="4399508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6660" y="359941"/>
            <a:ext cx="3207395" cy="343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Aim </a:t>
            </a:r>
            <a:r>
              <a:rPr lang="en-US" sz="2400" dirty="0" smtClean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of the project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660" y="943347"/>
            <a:ext cx="4834086" cy="2739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86546" y="1019103"/>
            <a:ext cx="3182950" cy="3846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2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 develop a </a:t>
            </a:r>
            <a:r>
              <a:rPr lang="en-US" sz="24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web-based application</a:t>
            </a:r>
            <a:r>
              <a:rPr lang="en-US" sz="2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that recognizes and predicts handwritten digits (0–9) using a CNN model deployed via Streamlit.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36368" y="355989"/>
            <a:ext cx="2920080" cy="595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3200" dirty="0">
                <a:solidFill>
                  <a:srgbClr val="FF33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Objectives</a:t>
            </a:r>
            <a:endParaRPr lang="en-IN" sz="3200" dirty="0">
              <a:solidFill>
                <a:srgbClr val="FF3399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9551" y="1221527"/>
            <a:ext cx="6348449" cy="15741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IN" dirty="0">
                <a:solidFill>
                  <a:schemeClr val="bg1"/>
                </a:solidFill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To collect and use the MNIST handwritten digit dataset.</a:t>
            </a:r>
            <a:endParaRPr lang="en-IN" sz="1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IN" dirty="0">
                <a:solidFill>
                  <a:schemeClr val="bg1"/>
                </a:solidFill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To train a CNN model for digit recognition.</a:t>
            </a:r>
            <a:endParaRPr lang="en-IN" sz="1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IN" dirty="0">
                <a:solidFill>
                  <a:schemeClr val="bg1"/>
                </a:solidFill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To build a user-friendly web interface using Streamlit.</a:t>
            </a:r>
            <a:endParaRPr lang="en-IN" sz="1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IN" dirty="0">
                <a:solidFill>
                  <a:schemeClr val="bg1"/>
                </a:solidFill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To allow users to upload digit images.</a:t>
            </a:r>
            <a:endParaRPr lang="en-IN" sz="1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solidFill>
                  <a:schemeClr val="bg1"/>
                </a:solidFill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To predict and display the recognized digit accurately.</a:t>
            </a:r>
            <a:endParaRPr lang="en-IN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239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5326" y="355402"/>
            <a:ext cx="3262387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IN" sz="3200" dirty="0">
                <a:solidFill>
                  <a:srgbClr val="FF3399"/>
                </a:solidFill>
              </a:rPr>
              <a:t>Project Theory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57" y="955402"/>
            <a:ext cx="3725763" cy="37257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22093" y="2401491"/>
            <a:ext cx="3725763" cy="1113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n-US" sz="900" dirty="0"/>
          </a:p>
        </p:txBody>
      </p:sp>
      <p:sp>
        <p:nvSpPr>
          <p:cNvPr id="6" name="Rectangle 5"/>
          <p:cNvSpPr/>
          <p:nvPr/>
        </p:nvSpPr>
        <p:spPr>
          <a:xfrm>
            <a:off x="4366086" y="1486714"/>
            <a:ext cx="4572000" cy="24632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2465070" algn="l"/>
              </a:tabLst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Handwritten Digit Recognition is an application of Artificial Intelligence and Deep Learning. In this project, a CNN model is used to learn patterns from handwritten digit images. The MNIST dataset contains thousands of images of digits from 0 to 9. After training, the model can identify unknown handwritten digits and predict the correct number.</a:t>
            </a:r>
            <a:endParaRPr lang="en-IN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855" y="374303"/>
            <a:ext cx="3317379" cy="357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Methodology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74" y="929357"/>
            <a:ext cx="7829178" cy="33761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4152" y="3671813"/>
            <a:ext cx="3736856" cy="208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Train </a:t>
            </a:r>
            <a:r>
              <a:rPr lang="en-US" sz="1300" dirty="0" smtClean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model </a:t>
            </a:r>
            <a:r>
              <a:rPr lang="en-IN" sz="1400" dirty="0"/>
              <a:t>Develop a Streamlit web application.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84152" y="2890285"/>
            <a:ext cx="1671601" cy="208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Design CNN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84152" y="2116652"/>
            <a:ext cx="1671601" cy="208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00" dirty="0" smtClean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Preprocess </a:t>
            </a:r>
            <a:r>
              <a:rPr lang="en-IN" sz="1400" dirty="0" smtClean="0"/>
              <a:t>the</a:t>
            </a:r>
            <a:r>
              <a:rPr lang="en-US" sz="1300" dirty="0" smtClean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13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Images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84152" y="1335124"/>
            <a:ext cx="2005778" cy="208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00" dirty="0" smtClean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Collect </a:t>
            </a:r>
            <a:r>
              <a:rPr lang="en-IN" sz="1400" dirty="0"/>
              <a:t>the MNIST dataset.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855" y="397594"/>
            <a:ext cx="3317379" cy="357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Dataset &amp; Tools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24855" y="1001985"/>
            <a:ext cx="1887289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MNIST Dataset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4855" y="1279475"/>
            <a:ext cx="3798912" cy="528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</a:t>
            </a:r>
            <a:r>
              <a:rPr lang="en-US" sz="9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MNIST dataset</a:t>
            </a: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is the gold standard for digit recognition research, comprising </a:t>
            </a:r>
            <a:r>
              <a:rPr lang="en-US" sz="9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70,000 grayscale images</a:t>
            </a: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handwritten digits (0–9), each 28×28 pixels.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724995" y="1001985"/>
            <a:ext cx="1887289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Technology Stack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4995" y="1291828"/>
            <a:ext cx="243111" cy="2431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91559" y="1333574"/>
            <a:ext cx="1430089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91559" y="1611064"/>
            <a:ext cx="3432349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Core programming language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4995" y="1984846"/>
            <a:ext cx="243111" cy="24311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91559" y="2026593"/>
            <a:ext cx="1430089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TensorFlow / Keras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091559" y="2304083"/>
            <a:ext cx="3432349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CNN model building &amp; training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4995" y="2677864"/>
            <a:ext cx="243111" cy="24311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91559" y="2719611"/>
            <a:ext cx="1430089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5091559" y="2997101"/>
            <a:ext cx="3432349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Interactive web application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24995" y="3370883"/>
            <a:ext cx="243111" cy="24311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091559" y="3412629"/>
            <a:ext cx="1863700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NumPy · Pandas · Matplotlib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5091559" y="3690119"/>
            <a:ext cx="3432349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handling &amp; visualization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624855" y="4088606"/>
            <a:ext cx="2565574" cy="657299"/>
          </a:xfrm>
          <a:prstGeom prst="roundRect">
            <a:avLst>
              <a:gd name="adj" fmla="val 2774"/>
            </a:avLst>
          </a:prstGeom>
          <a:solidFill>
            <a:srgbClr val="444752"/>
          </a:solidFill>
          <a:ln/>
        </p:spPr>
      </p:sp>
      <p:sp>
        <p:nvSpPr>
          <p:cNvPr id="19" name="Text 13"/>
          <p:cNvSpPr/>
          <p:nvPr/>
        </p:nvSpPr>
        <p:spPr>
          <a:xfrm>
            <a:off x="746373" y="4210124"/>
            <a:ext cx="1430089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60K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746373" y="4448101"/>
            <a:ext cx="2322537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Training samples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3289176" y="4088606"/>
            <a:ext cx="2565574" cy="657299"/>
          </a:xfrm>
          <a:prstGeom prst="roundRect">
            <a:avLst>
              <a:gd name="adj" fmla="val 2774"/>
            </a:avLst>
          </a:prstGeom>
          <a:solidFill>
            <a:srgbClr val="444752"/>
          </a:solidFill>
          <a:ln/>
        </p:spPr>
      </p:sp>
      <p:sp>
        <p:nvSpPr>
          <p:cNvPr id="22" name="Text 16"/>
          <p:cNvSpPr/>
          <p:nvPr/>
        </p:nvSpPr>
        <p:spPr>
          <a:xfrm>
            <a:off x="3410694" y="4210124"/>
            <a:ext cx="1430089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10K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3410694" y="4448101"/>
            <a:ext cx="2322537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 samples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953497" y="4088606"/>
            <a:ext cx="2565574" cy="657299"/>
          </a:xfrm>
          <a:prstGeom prst="roundRect">
            <a:avLst>
              <a:gd name="adj" fmla="val 2774"/>
            </a:avLst>
          </a:prstGeom>
          <a:solidFill>
            <a:srgbClr val="444752"/>
          </a:solidFill>
          <a:ln/>
        </p:spPr>
      </p:sp>
      <p:sp>
        <p:nvSpPr>
          <p:cNvPr id="25" name="Text 19"/>
          <p:cNvSpPr/>
          <p:nvPr/>
        </p:nvSpPr>
        <p:spPr>
          <a:xfrm>
            <a:off x="6075015" y="4210124"/>
            <a:ext cx="1430089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075015" y="4448101"/>
            <a:ext cx="2322537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Digit classes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050" y="386135"/>
            <a:ext cx="3884488" cy="371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300" dirty="0"/>
          </a:p>
        </p:txBody>
      </p:sp>
      <p:sp>
        <p:nvSpPr>
          <p:cNvPr id="19" name="Rectangle 18"/>
          <p:cNvSpPr/>
          <p:nvPr/>
        </p:nvSpPr>
        <p:spPr>
          <a:xfrm>
            <a:off x="3036366" y="-27431"/>
            <a:ext cx="3950928" cy="48152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971675" algn="l"/>
              </a:tabLst>
            </a:pPr>
            <a:r>
              <a:rPr lang="en-IN" sz="3200" dirty="0">
                <a:solidFill>
                  <a:srgbClr val="FF33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 Chart</a:t>
            </a:r>
          </a:p>
          <a:p>
            <a:pPr algn="ctr"/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Start</a:t>
            </a:r>
          </a:p>
          <a:p>
            <a:pPr algn="ctr"/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↓</a:t>
            </a:r>
          </a:p>
          <a:p>
            <a:pPr algn="ctr"/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Load MNIST Dataset</a:t>
            </a:r>
          </a:p>
          <a:p>
            <a:pPr algn="ctr"/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↓</a:t>
            </a:r>
          </a:p>
          <a:p>
            <a:pPr algn="ctr"/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Train CNN Model</a:t>
            </a:r>
          </a:p>
          <a:p>
            <a:pPr algn="ctr"/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↓</a:t>
            </a:r>
          </a:p>
          <a:p>
            <a:pPr algn="ctr"/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Save Model</a:t>
            </a:r>
          </a:p>
          <a:p>
            <a:pPr algn="ctr"/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↓</a:t>
            </a:r>
          </a:p>
          <a:p>
            <a:pPr algn="ctr"/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Launch Streamlit App</a:t>
            </a:r>
          </a:p>
          <a:p>
            <a:pPr algn="ctr"/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↓</a:t>
            </a:r>
          </a:p>
          <a:p>
            <a:pPr algn="ctr"/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Upload Digit Image</a:t>
            </a:r>
          </a:p>
          <a:p>
            <a:pPr algn="ctr"/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↓</a:t>
            </a:r>
          </a:p>
          <a:p>
            <a:pPr algn="ctr"/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Preprocess Image</a:t>
            </a:r>
          </a:p>
          <a:p>
            <a:pPr algn="ctr"/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↓</a:t>
            </a:r>
          </a:p>
          <a:p>
            <a:pPr algn="ctr"/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Predict Digit</a:t>
            </a:r>
          </a:p>
          <a:p>
            <a:pPr algn="ctr"/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↓</a:t>
            </a:r>
          </a:p>
          <a:p>
            <a:pPr algn="ctr"/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Display Result</a:t>
            </a:r>
          </a:p>
          <a:p>
            <a:pPr algn="ctr"/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↓</a:t>
            </a:r>
          </a:p>
          <a:p>
            <a:pPr algn="ctr"/>
            <a:r>
              <a:rPr lang="en-IN" sz="1400" dirty="0" smtClean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End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6660" y="347514"/>
            <a:ext cx="3800773" cy="343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Streamlit Web Application</a:t>
            </a:r>
            <a:endParaRPr lang="en-US" sz="2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660" y="930920"/>
            <a:ext cx="4834086" cy="2739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28575" y="930920"/>
            <a:ext cx="1668256" cy="311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977445" y="1360675"/>
            <a:ext cx="2471291" cy="666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Streamlit app provides a </a:t>
            </a:r>
            <a:r>
              <a:rPr lang="en-US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zero-setup, browser-based interface</a:t>
            </a:r>
            <a:r>
              <a:rPr lang="en-US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real-time digit recognition. Users upload an image, and the CNN returns a prediction instantly.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8559" y="392146"/>
            <a:ext cx="7817771" cy="2256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3600" dirty="0" smtClean="0">
                <a:solidFill>
                  <a:srgbClr val="FF33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IN" sz="1100" dirty="0">
              <a:solidFill>
                <a:srgbClr val="FF3399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Handwritten Digit Recognition System successfully recognizes handwritten digits using a CNN model. The project uses the MNIST dataset and provides predictions through a Streamlit web application. The system is accurate, efficient, and demonstrates the practical application of Deep Learning in image recognition.</a:t>
            </a:r>
            <a:endParaRPr lang="en-IN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440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rot="20256478">
            <a:off x="2212708" y="1849740"/>
            <a:ext cx="497684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dirty="0" smtClean="0">
                <a:solidFill>
                  <a:srgbClr val="FF3399"/>
                </a:solidFill>
              </a:rPr>
              <a:t>THANK YOU</a:t>
            </a:r>
            <a:endParaRPr lang="en-IN" sz="6600" dirty="0">
              <a:solidFill>
                <a:srgbClr val="FF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0526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470</Words>
  <Application>Microsoft Office PowerPoint</Application>
  <PresentationFormat>On-screen Show (16:9)</PresentationFormat>
  <Paragraphs>86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Lora</vt:lpstr>
      <vt:lpstr>Calibri</vt:lpstr>
      <vt:lpstr>Symbol</vt:lpstr>
      <vt:lpstr>Times New Roman</vt:lpstr>
      <vt:lpstr>Source Sans 3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DELL</cp:lastModifiedBy>
  <cp:revision>14</cp:revision>
  <dcterms:created xsi:type="dcterms:W3CDTF">2026-06-01T16:05:04Z</dcterms:created>
  <dcterms:modified xsi:type="dcterms:W3CDTF">2026-06-03T02:58:15Z</dcterms:modified>
</cp:coreProperties>
</file>